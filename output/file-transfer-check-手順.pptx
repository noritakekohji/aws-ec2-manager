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お客様に実施いただく、共有フォルダへのファイル転送疎通確認の手順書です。実際にテストファイルを送って受け取り、壊れていないかまで確認します。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往復転送し、SHA-256 ハッシュで整合性まで確認する点がポイントです。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お客様の作業は実質ステップ2〜4のみ。設定は運用者側が事前に済ませます。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パスワードは実行時入力のみ。リストにも資料にも記載しない運用です。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自己完結型。フォルダ一式のコピーのみで動作します。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bat は同フォルダの ps1 と shares.lst を参照するため、フォルダ一式が必要です。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NG=期待どおり転送できなかった、の意味。お客様を不安にさせないよう補足しています。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ログ・HTML ともパスワードは出力しない設計です。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お客様には終了コードの詳細は伝えず、症状ベースで案内しています。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お客様の不安（勝手に何かされるのでは）を先回りして解消するページです。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最後にお客様の作業を3点に要約して安心してもらう構成です。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C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32520" y="1051560"/>
            <a:ext cx="3200400" cy="3200400"/>
          </a:xfrm>
          <a:prstGeom prst="ellipse">
            <a:avLst/>
          </a:prstGeom>
          <a:solidFill>
            <a:srgbClr val="0B3C4A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281160" y="1600200"/>
            <a:ext cx="2103120" cy="2103120"/>
          </a:xfrm>
          <a:prstGeom prst="ellipse">
            <a:avLst/>
          </a:prstGeom>
          <a:solidFill>
            <a:srgbClr val="0B3C4A"/>
          </a:solidFill>
          <a:ln w="19050">
            <a:solidFill>
              <a:srgbClr val="00A89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12680" y="2331720"/>
            <a:ext cx="640080" cy="64008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05740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ファイル転送 疎通確認手順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301752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700" dirty="0">
                <a:solidFill>
                  <a:srgbClr val="BFE0E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お客様の端末から、サーバの共有フォルダへ</a:t>
            </a:r>
            <a:endParaRPr lang="en-US" sz="17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700" dirty="0">
                <a:solidFill>
                  <a:srgbClr val="BFE0E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ファイルを送受信できるかを確認します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22960" y="4343400"/>
            <a:ext cx="5029200" cy="566928"/>
          </a:xfrm>
          <a:prstGeom prst="roundRect">
            <a:avLst>
              <a:gd name="adj" fmla="val 50000"/>
            </a:avLst>
          </a:prstGeom>
          <a:solidFill>
            <a:srgbClr val="17505F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4343400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所要時間 約10分  /  専門知識は不要です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58064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A8B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File Transfer Check (SMB)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E3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この確認で分かること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42416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74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テスト用のファイルを実際に送って受け取り、3つの観点で確認します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502152" cy="2926080"/>
          </a:xfrm>
          <a:prstGeom prst="roundRect">
            <a:avLst>
              <a:gd name="adj" fmla="val 3125"/>
            </a:avLst>
          </a:prstGeom>
          <a:solidFill>
            <a:srgbClr val="F1F7F8"/>
          </a:solidFill>
          <a:ln/>
          <a:effectLst>
            <a:outerShdw sx="100000" sy="100000" kx="0" ky="0" algn="bl" rotWithShape="0" blurRad="127000" dist="25400" dir="5400000">
              <a:srgbClr val="9BB2BA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240280"/>
            <a:ext cx="777240" cy="7772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2402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↑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868680" y="32461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2E3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送れるか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68680" y="374904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5B74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サーバの共有フォルダに</a:t>
            </a: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5B74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ファイルを書き込めるか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25112" y="1874520"/>
            <a:ext cx="3502152" cy="2926080"/>
          </a:xfrm>
          <a:prstGeom prst="roundRect">
            <a:avLst>
              <a:gd name="adj" fmla="val 3125"/>
            </a:avLst>
          </a:prstGeom>
          <a:solidFill>
            <a:srgbClr val="F1F7F8"/>
          </a:solidFill>
          <a:ln/>
          <a:effectLst>
            <a:outerShdw sx="100000" sy="100000" kx="0" ky="0" algn="bl" rotWithShape="0" blurRad="127000" dist="25400" dir="5400000">
              <a:srgbClr val="9BB2BA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45152" y="2240280"/>
            <a:ext cx="777240" cy="7772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4645152" y="22402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↓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645152" y="32461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2E3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受け取れるか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4645152" y="374904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5B74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書き込んだファイルを</a:t>
            </a: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5B74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読み戻せるか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01584" y="1874520"/>
            <a:ext cx="3502152" cy="2926080"/>
          </a:xfrm>
          <a:prstGeom prst="roundRect">
            <a:avLst>
              <a:gd name="adj" fmla="val 3125"/>
            </a:avLst>
          </a:prstGeom>
          <a:solidFill>
            <a:srgbClr val="F1F7F8"/>
          </a:solidFill>
          <a:ln/>
          <a:effectLst>
            <a:outerShdw sx="100000" sy="100000" kx="0" ky="0" algn="bl" rotWithShape="0" blurRad="127000" dist="25400" dir="5400000">
              <a:srgbClr val="9BB2BA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21624" y="2240280"/>
            <a:ext cx="777240" cy="7772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8421624" y="22402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=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8421624" y="32461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2E3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壊れていないか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8421624" y="374904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5B74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送る前と後で中身が</a:t>
            </a: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5B74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完全に同じか照合します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5166360"/>
            <a:ext cx="11064240" cy="1143000"/>
          </a:xfrm>
          <a:prstGeom prst="roundRect">
            <a:avLst>
              <a:gd name="adj" fmla="val 8000"/>
            </a:avLst>
          </a:prstGeom>
          <a:solidFill>
            <a:srgbClr val="E4F2F1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" y="5166360"/>
            <a:ext cx="10424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350" b="1" dirty="0">
                <a:solidFill>
                  <a:srgbClr val="1A2E3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あわせて転送の速さ（スピード）も測定します。</a:t>
            </a:r>
            <a:endParaRPr lang="en-US" sz="1350" dirty="0"/>
          </a:p>
          <a:p>
            <a:pPr indent="0" marL="0">
              <a:lnSpc>
                <a:spcPts val="2300"/>
              </a:lnSpc>
              <a:buNone/>
            </a:pPr>
            <a:r>
              <a:rPr lang="en-US" sz="1350" dirty="0">
                <a:solidFill>
                  <a:srgbClr val="1A2E3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結果は画面に表示され、ログファイルにも自動で記録されます。ご担当者へその記録をお送りいただきます。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E3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全体の流れ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42416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74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4つのステップで完了します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057400"/>
            <a:ext cx="2514600" cy="32461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CFE2E5"/>
            </a:solidFill>
            <a:prstDash val="solid"/>
          </a:ln>
          <a:effectLst>
            <a:outerShdw sx="100000" sy="100000" kx="0" ky="0" algn="bl" rotWithShape="0" blurRad="127000" dist="25400" dir="5400000">
              <a:srgbClr val="9BB2BA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63040" y="2423160"/>
            <a:ext cx="685800" cy="6858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1463040" y="24231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685800" y="333756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1600" b="1" dirty="0">
                <a:solidFill>
                  <a:srgbClr val="1A2E3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フォルダを</a:t>
            </a:r>
            <a:endParaRPr lang="en-US" sz="1600" dirty="0"/>
          </a:p>
          <a:p>
            <a:pPr algn="ctr" indent="0" marL="0">
              <a:lnSpc>
                <a:spcPts val="2300"/>
              </a:lnSpc>
              <a:buNone/>
            </a:pPr>
            <a:r>
              <a:rPr lang="en-US" sz="1600" b="1" dirty="0">
                <a:solidFill>
                  <a:srgbClr val="1A2E3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受け取る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" y="4224528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5B74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ご担当者から</a:t>
            </a:r>
            <a:endParaRPr lang="en-US" sz="1200" dirty="0"/>
          </a:p>
          <a:p>
            <a:pPr algn="ctr"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5B74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一式を受領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136392" y="3520440"/>
            <a:ext cx="274320" cy="256032"/>
          </a:xfrm>
          <a:prstGeom prst="rightArrow">
            <a:avLst/>
          </a:prstGeom>
          <a:solidFill>
            <a:srgbClr val="9FC4CA"/>
          </a:solidFill>
          <a:ln/>
        </p:spPr>
      </p:sp>
      <p:sp>
        <p:nvSpPr>
          <p:cNvPr id="10" name="Shape 8"/>
          <p:cNvSpPr/>
          <p:nvPr/>
        </p:nvSpPr>
        <p:spPr>
          <a:xfrm>
            <a:off x="3438144" y="2057400"/>
            <a:ext cx="2514600" cy="32461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CFE2E5"/>
            </a:solidFill>
            <a:prstDash val="solid"/>
          </a:ln>
          <a:effectLst>
            <a:outerShdw sx="100000" sy="100000" kx="0" ky="0" algn="bl" rotWithShape="0" blurRad="127000" dist="25400" dir="5400000">
              <a:srgbClr val="9BB2BA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52544" y="2423160"/>
            <a:ext cx="685800" cy="6858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4352544" y="24231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3575304" y="333756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1600" b="1" dirty="0">
                <a:solidFill>
                  <a:srgbClr val="1A2E3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端末に</a:t>
            </a:r>
            <a:endParaRPr lang="en-US" sz="1600" dirty="0"/>
          </a:p>
          <a:p>
            <a:pPr algn="ctr" indent="0" marL="0">
              <a:lnSpc>
                <a:spcPts val="2300"/>
              </a:lnSpc>
              <a:buNone/>
            </a:pPr>
            <a:r>
              <a:rPr lang="en-US" sz="1600" b="1" dirty="0">
                <a:solidFill>
                  <a:srgbClr val="1A2E3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コピー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575304" y="4224528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5B74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デスクトップ等</a:t>
            </a:r>
            <a:endParaRPr lang="en-US" sz="1200" dirty="0"/>
          </a:p>
          <a:p>
            <a:pPr algn="ctr"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5B74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に置く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025896" y="3520440"/>
            <a:ext cx="274320" cy="256032"/>
          </a:xfrm>
          <a:prstGeom prst="rightArrow">
            <a:avLst/>
          </a:prstGeom>
          <a:solidFill>
            <a:srgbClr val="9FC4CA"/>
          </a:solidFill>
          <a:ln/>
        </p:spPr>
      </p:sp>
      <p:sp>
        <p:nvSpPr>
          <p:cNvPr id="16" name="Shape 14"/>
          <p:cNvSpPr/>
          <p:nvPr/>
        </p:nvSpPr>
        <p:spPr>
          <a:xfrm>
            <a:off x="6327648" y="2057400"/>
            <a:ext cx="2514600" cy="32461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CFE2E5"/>
            </a:solidFill>
            <a:prstDash val="solid"/>
          </a:ln>
          <a:effectLst>
            <a:outerShdw sx="100000" sy="100000" kx="0" ky="0" algn="bl" rotWithShape="0" blurRad="127000" dist="25400" dir="5400000">
              <a:srgbClr val="9BB2BA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242048" y="2423160"/>
            <a:ext cx="685800" cy="6858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8" name="Text 16"/>
          <p:cNvSpPr/>
          <p:nvPr/>
        </p:nvSpPr>
        <p:spPr>
          <a:xfrm>
            <a:off x="7242048" y="24231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6464808" y="333756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1600" b="1" dirty="0">
                <a:solidFill>
                  <a:srgbClr val="1A2E3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実行する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64808" y="4224528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5B74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ファイルを</a:t>
            </a:r>
            <a:endParaRPr lang="en-US" sz="1200" dirty="0"/>
          </a:p>
          <a:p>
            <a:pPr algn="ctr"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5B74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ダブルクリック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915400" y="3520440"/>
            <a:ext cx="274320" cy="256032"/>
          </a:xfrm>
          <a:prstGeom prst="rightArrow">
            <a:avLst/>
          </a:prstGeom>
          <a:solidFill>
            <a:srgbClr val="9FC4CA"/>
          </a:solidFill>
          <a:ln/>
        </p:spPr>
      </p:sp>
      <p:sp>
        <p:nvSpPr>
          <p:cNvPr id="22" name="Shape 20"/>
          <p:cNvSpPr/>
          <p:nvPr/>
        </p:nvSpPr>
        <p:spPr>
          <a:xfrm>
            <a:off x="9217152" y="2057400"/>
            <a:ext cx="2514600" cy="32461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CFE2E5"/>
            </a:solidFill>
            <a:prstDash val="solid"/>
          </a:ln>
          <a:effectLst>
            <a:outerShdw sx="100000" sy="100000" kx="0" ky="0" algn="bl" rotWithShape="0" blurRad="127000" dist="25400" dir="5400000">
              <a:srgbClr val="9BB2BA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10131552" y="2423160"/>
            <a:ext cx="685800" cy="6858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4" name="Text 22"/>
          <p:cNvSpPr/>
          <p:nvPr/>
        </p:nvSpPr>
        <p:spPr>
          <a:xfrm>
            <a:off x="10131552" y="24231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9354312" y="333756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1600" b="1" dirty="0">
                <a:solidFill>
                  <a:srgbClr val="1A2E3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結果を</a:t>
            </a:r>
            <a:endParaRPr lang="en-US" sz="1600" dirty="0"/>
          </a:p>
          <a:p>
            <a:pPr algn="ctr" indent="0" marL="0">
              <a:lnSpc>
                <a:spcPts val="2300"/>
              </a:lnSpc>
              <a:buNone/>
            </a:pPr>
            <a:r>
              <a:rPr lang="en-US" sz="1600" b="1" dirty="0">
                <a:solidFill>
                  <a:srgbClr val="1A2E3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送る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354312" y="4224528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5B74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ログを</a:t>
            </a:r>
            <a:endParaRPr lang="en-US" sz="1200" dirty="0"/>
          </a:p>
          <a:p>
            <a:pPr algn="ctr"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5B74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ご担当者へ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8640" y="56692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4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※ サーバへ接続するための情報（共有フォルダの場所・ユーザー名）は、事前にご担当者が設定します。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E3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事前のご確認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42416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74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作業を始める前に、次の2点をご確認ください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349240" cy="3200400"/>
          </a:xfrm>
          <a:prstGeom prst="roundRect">
            <a:avLst>
              <a:gd name="adj" fmla="val 2857"/>
            </a:avLst>
          </a:prstGeom>
          <a:solidFill>
            <a:srgbClr val="F1F7F8"/>
          </a:solidFill>
          <a:ln/>
          <a:effectLst>
            <a:outerShdw sx="100000" sy="100000" kx="0" ky="0" algn="bl" rotWithShape="0" blurRad="127000" dist="25400" dir="5400000">
              <a:srgbClr val="9BB2BA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194560"/>
            <a:ext cx="475488" cy="47548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1945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63040" y="2194560"/>
            <a:ext cx="4206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E3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ご用意いただくもの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0120" y="2926080"/>
            <a:ext cx="4663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200"/>
              </a:lnSpc>
              <a:spcAft>
                <a:spcPts val="1300"/>
              </a:spcAft>
              <a:buSzPct val="100000"/>
              <a:buChar char="•"/>
            </a:pPr>
            <a:r>
              <a:rPr lang="en-US" sz="1350" dirty="0">
                <a:solidFill>
                  <a:srgbClr val="1A2E3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確認を行う端末（普段お使いのPC）</a:t>
            </a:r>
            <a:endParaRPr lang="en-US" sz="1350" dirty="0"/>
          </a:p>
          <a:p>
            <a:pPr marL="342900" indent="-342900">
              <a:lnSpc>
                <a:spcPts val="2200"/>
              </a:lnSpc>
              <a:spcAft>
                <a:spcPts val="1300"/>
              </a:spcAft>
              <a:buSzPct val="100000"/>
              <a:buChar char="•"/>
            </a:pPr>
            <a:r>
              <a:rPr lang="en-US" sz="1350" dirty="0">
                <a:solidFill>
                  <a:srgbClr val="1A2E3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その端末が社内ネットワークに接続されていること</a:t>
            </a:r>
            <a:endParaRPr lang="en-US" sz="1350" dirty="0"/>
          </a:p>
          <a:p>
            <a:pPr marL="342900" indent="-342900">
              <a:lnSpc>
                <a:spcPts val="2200"/>
              </a:lnSpc>
              <a:spcAft>
                <a:spcPts val="1300"/>
              </a:spcAft>
              <a:buSzPct val="100000"/>
              <a:buChar char="•"/>
            </a:pPr>
            <a:r>
              <a:rPr lang="en-US" sz="1350" dirty="0">
                <a:solidFill>
                  <a:srgbClr val="1A2E3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ご担当者から受け取ったフォルダ一式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63640" y="1874520"/>
            <a:ext cx="5349240" cy="3200400"/>
          </a:xfrm>
          <a:prstGeom prst="roundRect">
            <a:avLst>
              <a:gd name="adj" fmla="val 2857"/>
            </a:avLst>
          </a:prstGeom>
          <a:solidFill>
            <a:srgbClr val="F1F7F8"/>
          </a:solidFill>
          <a:ln/>
          <a:effectLst>
            <a:outerShdw sx="100000" sy="100000" kx="0" ky="0" algn="bl" rotWithShape="0" blurRad="127000" dist="25400" dir="5400000">
              <a:srgbClr val="9BB2BA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83680" y="2194560"/>
            <a:ext cx="475488" cy="47548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0" y="21945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178040" y="2194560"/>
            <a:ext cx="4206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E3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ご確認いただきたいこと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675120" y="2926080"/>
            <a:ext cx="4663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200"/>
              </a:lnSpc>
              <a:spcAft>
                <a:spcPts val="1300"/>
              </a:spcAft>
              <a:buSzPct val="100000"/>
              <a:buChar char="•"/>
            </a:pPr>
            <a:r>
              <a:rPr lang="en-US" sz="1350" dirty="0">
                <a:solidFill>
                  <a:srgbClr val="1A2E3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確認対象のサーバ名・共有フォルダ名</a:t>
            </a:r>
            <a:endParaRPr lang="en-US" sz="1350" dirty="0"/>
          </a:p>
          <a:p>
            <a:pPr marL="342900" indent="-342900">
              <a:lnSpc>
                <a:spcPts val="2200"/>
              </a:lnSpc>
              <a:spcAft>
                <a:spcPts val="1300"/>
              </a:spcAft>
              <a:buSzPct val="100000"/>
              <a:buChar char="•"/>
            </a:pPr>
            <a:r>
              <a:rPr lang="en-US" sz="1350" dirty="0">
                <a:solidFill>
                  <a:srgbClr val="1A2E3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接続に専用のユーザー名を使うかどうか</a:t>
            </a:r>
            <a:endParaRPr lang="en-US" sz="1350" dirty="0"/>
          </a:p>
          <a:p>
            <a:pPr marL="342900" indent="-342900">
              <a:lnSpc>
                <a:spcPts val="2200"/>
              </a:lnSpc>
              <a:spcAft>
                <a:spcPts val="1300"/>
              </a:spcAft>
              <a:buSzPct val="100000"/>
              <a:buChar char="•"/>
            </a:pPr>
            <a:r>
              <a:rPr lang="en-US" sz="1350" dirty="0">
                <a:solidFill>
                  <a:srgbClr val="1A2E3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（使う場合）そのパスワード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539496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FDF3E0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539496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777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パスワードは、この資料やファイルに書かないでください。実行中に画面で一度だけ入力していただきます。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603504" cy="60350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98448" y="384048"/>
            <a:ext cx="10332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E3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フォルダを端末にコピーする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298448" y="106070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74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受け取ったフォルダを、そのまま端末に置いてください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874520"/>
            <a:ext cx="6035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600"/>
              </a:lnSpc>
              <a:spcAft>
                <a:spcPts val="1600"/>
              </a:spcAft>
              <a:buSzPct val="100000"/>
              <a:buChar char="•"/>
            </a:pPr>
            <a:r>
              <a:rPr lang="en-US" sz="1450" dirty="0">
                <a:solidFill>
                  <a:srgbClr val="1A2E3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受け取ったフォルダ一式を、デスクトップなど分かりやすい場所にコピーします。</a:t>
            </a:r>
            <a:endParaRPr lang="en-US" sz="1450" dirty="0"/>
          </a:p>
          <a:p>
            <a:pPr marL="342900" indent="-342900">
              <a:lnSpc>
                <a:spcPts val="2600"/>
              </a:lnSpc>
              <a:spcAft>
                <a:spcPts val="1600"/>
              </a:spcAft>
              <a:buSzPct val="100000"/>
              <a:buChar char="•"/>
            </a:pPr>
            <a:r>
              <a:rPr lang="en-US" sz="1450" dirty="0">
                <a:solidFill>
                  <a:srgbClr val="1A2E3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フォルダの中身は変更しないでください（ファイルを消したり名前を変えたりしない）。</a:t>
            </a:r>
            <a:endParaRPr lang="en-US" sz="1450" dirty="0"/>
          </a:p>
          <a:p>
            <a:pPr marL="342900" indent="-342900">
              <a:lnSpc>
                <a:spcPts val="2600"/>
              </a:lnSpc>
              <a:spcAft>
                <a:spcPts val="1600"/>
              </a:spcAft>
              <a:buSzPct val="100000"/>
              <a:buChar char="•"/>
            </a:pPr>
            <a:r>
              <a:rPr lang="en-US" sz="1450" dirty="0">
                <a:solidFill>
                  <a:srgbClr val="1A2E3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ネットワークドライブ上ではなく、端末内にコピーしてください。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858000" y="1828800"/>
            <a:ext cx="4754880" cy="352044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CFE2E5"/>
            </a:solidFill>
            <a:prstDash val="solid"/>
          </a:ln>
          <a:effectLst>
            <a:outerShdw sx="100000" sy="100000" kx="0" ky="0" algn="bl" rotWithShape="0" blurRad="127000" dist="25400" dir="5400000">
              <a:srgbClr val="9BB2BA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178040" y="20574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フォルダの中身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178040" y="2542032"/>
            <a:ext cx="4114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250" b="1" dirty="0">
                <a:solidFill>
                  <a:srgbClr val="1A2E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file-transfer-check</a:t>
            </a:r>
            <a:endParaRPr lang="en-US" sz="1250" dirty="0"/>
          </a:p>
          <a:p>
            <a:pPr indent="0" marL="0">
              <a:lnSpc>
                <a:spcPts val="2300"/>
              </a:lnSpc>
              <a:buNone/>
            </a:pPr>
            <a:r>
              <a:rPr lang="en-US" sz="125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Check-FileTransfer.bat</a:t>
            </a:r>
            <a:endParaRPr lang="en-US" sz="1250" dirty="0"/>
          </a:p>
          <a:p>
            <a:pPr indent="0" marL="0">
              <a:lnSpc>
                <a:spcPts val="2300"/>
              </a:lnSpc>
              <a:buNone/>
            </a:pPr>
            <a:r>
              <a:rPr lang="en-US" sz="1250" dirty="0">
                <a:solidFill>
                  <a:srgbClr val="1A2E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Check-FileTransfer.ps1</a:t>
            </a:r>
            <a:endParaRPr lang="en-US" sz="1250" dirty="0"/>
          </a:p>
          <a:p>
            <a:pPr indent="0" marL="0">
              <a:lnSpc>
                <a:spcPts val="2300"/>
              </a:lnSpc>
              <a:buNone/>
            </a:pPr>
            <a:r>
              <a:rPr lang="en-US" sz="1250" dirty="0">
                <a:solidFill>
                  <a:srgbClr val="1A2E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check_file_transfer.sh</a:t>
            </a:r>
            <a:endParaRPr lang="en-US" sz="1250" dirty="0"/>
          </a:p>
          <a:p>
            <a:pPr indent="0" marL="0">
              <a:lnSpc>
                <a:spcPts val="2300"/>
              </a:lnSpc>
              <a:buNone/>
            </a:pPr>
            <a:r>
              <a:rPr lang="en-US" sz="1250" dirty="0">
                <a:solidFill>
                  <a:srgbClr val="1A2E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shares.lst</a:t>
            </a:r>
            <a:endParaRPr lang="en-US" sz="1250" dirty="0"/>
          </a:p>
          <a:p>
            <a:pPr indent="0" marL="0">
              <a:lnSpc>
                <a:spcPts val="2300"/>
              </a:lnSpc>
              <a:buNone/>
            </a:pPr>
            <a:r>
              <a:rPr lang="en-US" sz="1250" dirty="0">
                <a:solidFill>
                  <a:srgbClr val="1A2E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README.md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178040" y="486460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74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青色のファイルを次のステップで使います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4343400"/>
            <a:ext cx="6035040" cy="1005840"/>
          </a:xfrm>
          <a:prstGeom prst="roundRect">
            <a:avLst>
              <a:gd name="adj" fmla="val 9091"/>
            </a:avLst>
          </a:prstGeom>
          <a:solidFill>
            <a:srgbClr val="E4F2F1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434340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E3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コピーするだけで動きます。インストール作業は必要ありません。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603504" cy="60350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98448" y="384048"/>
            <a:ext cx="10332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E3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実行する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298448" y="106070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74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ファイルをダブルクリックするだけです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874520"/>
            <a:ext cx="54864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400" b="1" dirty="0">
                <a:solidFill>
                  <a:srgbClr val="1A2E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Check-FileTransfer.bat</a:t>
            </a:r>
            <a:endParaRPr lang="en-US" sz="14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1A2E3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上のファイルをダブルクリックしてください。黒い画面が開き、確認が始まります。</a:t>
            </a:r>
            <a:endParaRPr lang="en-US" sz="1400" dirty="0"/>
          </a:p>
          <a:p>
            <a:pPr indent="0" marL="0">
              <a:lnSpc>
                <a:spcPts val="2600"/>
              </a:lnSpc>
              <a:buNone/>
            </a:pPr>
            <a:endParaRPr lang="en-US" sz="14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1A2E3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専用ユーザーを使う設定の場合のみ、パスワードの入力を求められます。</a:t>
            </a:r>
            <a:endParaRPr lang="en-US" sz="14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5B74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入力しても画面には表示されませんが、正しく入力されています。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309360" y="1828800"/>
            <a:ext cx="5303520" cy="2926080"/>
          </a:xfrm>
          <a:prstGeom prst="roundRect">
            <a:avLst>
              <a:gd name="adj" fmla="val 1875"/>
            </a:avLst>
          </a:prstGeom>
          <a:solidFill>
            <a:srgbClr val="10262E"/>
          </a:solidFill>
          <a:ln/>
          <a:effectLst>
            <a:outerShdw sx="100000" sy="100000" kx="0" ky="0" algn="bl" rotWithShape="0" blurRad="127000" dist="25400" dir="5400000">
              <a:srgbClr val="9BB2BA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10528" y="1993392"/>
            <a:ext cx="4901184" cy="2596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6E9A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================================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File Transfer Check (SMB)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6E9A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================================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DCEA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Running...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7FD1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パスワードを入力してください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5074920"/>
            <a:ext cx="11064240" cy="1234440"/>
          </a:xfrm>
          <a:prstGeom prst="roundRect">
            <a:avLst>
              <a:gd name="adj" fmla="val 7407"/>
            </a:avLst>
          </a:prstGeom>
          <a:solidFill>
            <a:srgbClr val="FDF3E0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5074920"/>
            <a:ext cx="10424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350" b="1" dirty="0">
                <a:solidFill>
                  <a:srgbClr val="C777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画面が出てこない / すぐ閉じてしまう場合</a:t>
            </a:r>
            <a:endParaRPr lang="en-US" sz="1350" dirty="0"/>
          </a:p>
          <a:p>
            <a:pPr indent="0" marL="0">
              <a:lnSpc>
                <a:spcPts val="2300"/>
              </a:lnSpc>
              <a:buNone/>
            </a:pPr>
            <a:r>
              <a:rPr lang="en-US" sz="1350" dirty="0">
                <a:solidFill>
                  <a:srgbClr val="1A2E3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フォルダごとコピーされているかご確認ください。bat ファイルだけを取り出すと動作しません。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603504" cy="60350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98448" y="384048"/>
            <a:ext cx="10332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E3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結果を確認する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298448" y="106070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74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共有フォルダごとに結果が表示されます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6400800" cy="3063240"/>
          </a:xfrm>
          <a:prstGeom prst="roundRect">
            <a:avLst>
              <a:gd name="adj" fmla="val 1791"/>
            </a:avLst>
          </a:prstGeom>
          <a:solidFill>
            <a:srgbClr val="10262E"/>
          </a:solidFill>
          <a:ln/>
          <a:effectLst>
            <a:outerShdw sx="100000" sy="100000" kx="0" ky="0" algn="bl" rotWithShape="0" blurRad="127000" dist="25400" dir="5400000">
              <a:srgbClr val="9BB2BA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49808" y="2039112"/>
            <a:ext cx="5998464" cy="2734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[SHARE] \\filesv01\upload  (業務ファイル受け渡し共有)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DCEA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Auth    : integrated (current user)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7FD1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Upload  : OK   8.3 MB/s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7FD1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Download: OK   11.1 MB/s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7FD1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Verify  : OK   (SHA-256 一致)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b="1" dirty="0">
                <a:solidFill>
                  <a:srgbClr val="7FD1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Result  : OK   expected=ok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6E9A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--------------------------------------------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Shares: 2   OK: 2   NG: 0   Warning: 0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178040" y="1874520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E3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表示の意味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178040" y="2377440"/>
            <a:ext cx="1170432" cy="420624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/>
        </p:spPr>
      </p:sp>
      <p:sp>
        <p:nvSpPr>
          <p:cNvPr id="10" name="Text 8"/>
          <p:cNvSpPr/>
          <p:nvPr/>
        </p:nvSpPr>
        <p:spPr>
          <a:xfrm>
            <a:off x="7178040" y="2377440"/>
            <a:ext cx="11704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OK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485632" y="2267712"/>
            <a:ext cx="31272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A2E3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問題ありません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178040" y="3273552"/>
            <a:ext cx="1170432" cy="420624"/>
          </a:xfrm>
          <a:prstGeom prst="roundRect">
            <a:avLst>
              <a:gd name="adj" fmla="val 50000"/>
            </a:avLst>
          </a:prstGeom>
          <a:solidFill>
            <a:srgbClr val="B3261E"/>
          </a:solidFill>
          <a:ln/>
        </p:spPr>
      </p:sp>
      <p:sp>
        <p:nvSpPr>
          <p:cNvPr id="13" name="Text 11"/>
          <p:cNvSpPr/>
          <p:nvPr/>
        </p:nvSpPr>
        <p:spPr>
          <a:xfrm>
            <a:off x="7178040" y="3273552"/>
            <a:ext cx="11704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NG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485632" y="3163824"/>
            <a:ext cx="31272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A2E3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転送できていません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A2E3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ご担当者へご連絡ください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178040" y="4169664"/>
            <a:ext cx="1170432" cy="420624"/>
          </a:xfrm>
          <a:prstGeom prst="roundRect">
            <a:avLst>
              <a:gd name="adj" fmla="val 50000"/>
            </a:avLst>
          </a:prstGeom>
          <a:solidFill>
            <a:srgbClr val="C77700"/>
          </a:solidFill>
          <a:ln/>
        </p:spPr>
      </p:sp>
      <p:sp>
        <p:nvSpPr>
          <p:cNvPr id="16" name="Text 14"/>
          <p:cNvSpPr/>
          <p:nvPr/>
        </p:nvSpPr>
        <p:spPr>
          <a:xfrm>
            <a:off x="7178040" y="4169664"/>
            <a:ext cx="11704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WARNING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485632" y="4059936"/>
            <a:ext cx="31272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A2E3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一部確認が必要です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A2E3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記録をお送りください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178040" y="5074920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B74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最後の行に合計が出ます。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B74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NG が 0 件なら問題ありません。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5166360"/>
            <a:ext cx="6400800" cy="1143000"/>
          </a:xfrm>
          <a:prstGeom prst="roundRect">
            <a:avLst>
              <a:gd name="adj" fmla="val 8000"/>
            </a:avLst>
          </a:prstGeom>
          <a:solidFill>
            <a:srgbClr val="E4F2F1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" y="5166360"/>
            <a:ext cx="5806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1A2E3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NG が出ても、お客様の操作ミスではありません。ネットワークや権限の設定を確認するための情報です。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603504" cy="60350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98448" y="384048"/>
            <a:ext cx="10332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E3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結果をご担当者へ送る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298448" y="106070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74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自動で作られる記録ファイルをお送りください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5349240" cy="2971800"/>
          </a:xfrm>
          <a:prstGeom prst="roundRect">
            <a:avLst>
              <a:gd name="adj" fmla="val 3077"/>
            </a:avLst>
          </a:prstGeom>
          <a:solidFill>
            <a:srgbClr val="F1F7F8"/>
          </a:solidFill>
          <a:ln/>
          <a:effectLst>
            <a:outerShdw sx="100000" sy="100000" kx="0" ky="0" algn="bl" rotWithShape="0" blurRad="127000" dist="25400" dir="5400000">
              <a:srgbClr val="9BB2BA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68680" y="2194560"/>
            <a:ext cx="475488" cy="566928"/>
          </a:xfrm>
          <a:prstGeom prst="roundRect">
            <a:avLst>
              <a:gd name="adj" fmla="val 11538"/>
            </a:avLst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1481328" y="2194560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E3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ログファイル（必須）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3017520"/>
            <a:ext cx="4709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Check-FileTransfer_&lt;日時&gt;.log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68680" y="3520440"/>
            <a:ext cx="4709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5B74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bat と同じフォルダに自動で作られます。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5B74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画面に出た内容がそのまま入っています。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63640" y="1874520"/>
            <a:ext cx="5349240" cy="2971800"/>
          </a:xfrm>
          <a:prstGeom prst="roundRect">
            <a:avLst>
              <a:gd name="adj" fmla="val 3077"/>
            </a:avLst>
          </a:prstGeom>
          <a:solidFill>
            <a:srgbClr val="F1F7F8"/>
          </a:solidFill>
          <a:ln/>
          <a:effectLst>
            <a:outerShdw sx="100000" sy="100000" kx="0" ky="0" algn="bl" rotWithShape="0" blurRad="127000" dist="25400" dir="5400000">
              <a:srgbClr val="9BB2BA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583680" y="2194560"/>
            <a:ext cx="475488" cy="566928"/>
          </a:xfrm>
          <a:prstGeom prst="roundRect">
            <a:avLst>
              <a:gd name="adj" fmla="val 11538"/>
            </a:avLst>
          </a:prstGeom>
          <a:solidFill>
            <a:srgbClr val="00A896"/>
          </a:solidFill>
          <a:ln/>
        </p:spPr>
      </p:sp>
      <p:sp>
        <p:nvSpPr>
          <p:cNvPr id="13" name="Text 11"/>
          <p:cNvSpPr/>
          <p:nvPr/>
        </p:nvSpPr>
        <p:spPr>
          <a:xfrm>
            <a:off x="7196328" y="2194560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E3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HTML レポート（設定時のみ）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583680" y="3017520"/>
            <a:ext cx="4709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report.html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583680" y="3520440"/>
            <a:ext cx="4709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5B74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設定されている場合のみ作られます。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5B74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ブラウザで開くと表形式で確認できます。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5166360"/>
            <a:ext cx="11064240" cy="1143000"/>
          </a:xfrm>
          <a:prstGeom prst="roundRect">
            <a:avLst>
              <a:gd name="adj" fmla="val 8000"/>
            </a:avLst>
          </a:prstGeom>
          <a:solidFill>
            <a:srgbClr val="E4F2F1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5166360"/>
            <a:ext cx="10424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350" b="1" dirty="0">
                <a:solidFill>
                  <a:srgbClr val="1A2E3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これらのファイルにパスワードは含まれません。</a:t>
            </a:r>
            <a:endParaRPr lang="en-US" sz="1350" dirty="0"/>
          </a:p>
          <a:p>
            <a:pPr indent="0" marL="0">
              <a:lnSpc>
                <a:spcPts val="2300"/>
              </a:lnSpc>
              <a:buNone/>
            </a:pPr>
            <a:r>
              <a:rPr lang="en-US" sz="1350" dirty="0">
                <a:solidFill>
                  <a:srgbClr val="1A2E3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そのままメール等でお送りいただいて問題ありません。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E3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うまくいかないときは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42416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74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次の内容をご担当者にお伝えいただくと、原因が早く分かります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11064240" cy="786384"/>
          </a:xfrm>
          <a:prstGeom prst="roundRect">
            <a:avLst>
              <a:gd name="adj" fmla="val 9302"/>
            </a:avLst>
          </a:prstGeom>
          <a:solidFill>
            <a:srgbClr val="F1F7F8"/>
          </a:solidFill>
          <a:ln w="12700">
            <a:solidFill>
              <a:srgbClr val="DCE9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093976"/>
            <a:ext cx="347472" cy="34747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0939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?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71600" y="1874520"/>
            <a:ext cx="39319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E3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画面がすぐ閉じる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440680" y="1874520"/>
            <a:ext cx="59436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74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フォルダ一式がコピーされているかご確認ください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807208"/>
            <a:ext cx="1106424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DCE9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8680" y="3026664"/>
            <a:ext cx="347472" cy="34747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0266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?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371600" y="2807208"/>
            <a:ext cx="39319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E3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ファイルが見つからない旨の表示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440680" y="2807208"/>
            <a:ext cx="59436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74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共有フォルダの設定ファイルが不足しています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739896"/>
            <a:ext cx="11064240" cy="786384"/>
          </a:xfrm>
          <a:prstGeom prst="roundRect">
            <a:avLst>
              <a:gd name="adj" fmla="val 9302"/>
            </a:avLst>
          </a:prstGeom>
          <a:solidFill>
            <a:srgbClr val="F1F7F8"/>
          </a:solidFill>
          <a:ln w="12700">
            <a:solidFill>
              <a:srgbClr val="DCE9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8680" y="3959352"/>
            <a:ext cx="347472" cy="34747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39593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?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371600" y="3739896"/>
            <a:ext cx="39319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E3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すべて NG になる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440680" y="3739896"/>
            <a:ext cx="59436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74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ネットワーク接続・接続先の指定をご確認ください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4672584"/>
            <a:ext cx="1106424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DCE9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68680" y="4892040"/>
            <a:ext cx="347472" cy="34747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48920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?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371600" y="4672584"/>
            <a:ext cx="39319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E3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パスワードを聞かれ続ける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5440680" y="4672584"/>
            <a:ext cx="59436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74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ユーザー名またはパスワードが誤っている可能性があります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5623560"/>
            <a:ext cx="11064240" cy="822960"/>
          </a:xfrm>
          <a:prstGeom prst="roundRect">
            <a:avLst>
              <a:gd name="adj" fmla="val 11111"/>
            </a:avLst>
          </a:prstGeom>
          <a:solidFill>
            <a:srgbClr val="E4F2F1"/>
          </a:solidFill>
          <a:ln/>
        </p:spPr>
      </p:sp>
      <p:sp>
        <p:nvSpPr>
          <p:cNvPr id="25" name="Text 23"/>
          <p:cNvSpPr/>
          <p:nvPr/>
        </p:nvSpPr>
        <p:spPr>
          <a:xfrm>
            <a:off x="868680" y="562356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E3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解決しない場合は、記録ファイル（.log）を添えてご担当者へご連絡ください。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E3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安全性について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42416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74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お客様の環境に変更を加えることはありません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349240" cy="1920240"/>
          </a:xfrm>
          <a:prstGeom prst="roundRect">
            <a:avLst>
              <a:gd name="adj" fmla="val 4762"/>
            </a:avLst>
          </a:prstGeom>
          <a:solidFill>
            <a:srgbClr val="F1F7F8"/>
          </a:solidFill>
          <a:ln/>
          <a:effectLst>
            <a:outerShdw sx="100000" sy="100000" kx="0" ky="0" algn="bl" rotWithShape="0" blurRad="127000" dist="25400" dir="5400000">
              <a:srgbClr val="9BB2BA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194560"/>
            <a:ext cx="475488" cy="47548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1945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63040" y="2176272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2E3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パスワードは保存しません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463040" y="2807208"/>
            <a:ext cx="4251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5B74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入力されたパスワードは確認中のみ使用し、</a:t>
            </a:r>
            <a:endParaRPr lang="en-US" sz="12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5B74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ファイルや記録には一切残りません。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1874520"/>
            <a:ext cx="5349240" cy="1920240"/>
          </a:xfrm>
          <a:prstGeom prst="roundRect">
            <a:avLst>
              <a:gd name="adj" fmla="val 4762"/>
            </a:avLst>
          </a:prstGeom>
          <a:solidFill>
            <a:srgbClr val="F1F7F8"/>
          </a:solidFill>
          <a:ln/>
          <a:effectLst>
            <a:outerShdw sx="100000" sy="100000" kx="0" ky="0" algn="bl" rotWithShape="0" blurRad="127000" dist="25400" dir="5400000">
              <a:srgbClr val="9BB2BA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83680" y="2194560"/>
            <a:ext cx="475488" cy="47548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0" y="21945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178040" y="2176272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2E3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テストファイルは自動で消えます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7178040" y="2807208"/>
            <a:ext cx="4251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5B74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確認用に送ったファイルは、確認後すぐに</a:t>
            </a:r>
            <a:endParaRPr lang="en-US" sz="12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5B74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自動で削除されます。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069080"/>
            <a:ext cx="5349240" cy="1920240"/>
          </a:xfrm>
          <a:prstGeom prst="roundRect">
            <a:avLst>
              <a:gd name="adj" fmla="val 4762"/>
            </a:avLst>
          </a:prstGeom>
          <a:solidFill>
            <a:srgbClr val="F1F7F8"/>
          </a:solidFill>
          <a:ln/>
          <a:effectLst>
            <a:outerShdw sx="100000" sy="100000" kx="0" ky="0" algn="bl" rotWithShape="0" blurRad="127000" dist="25400" dir="5400000">
              <a:srgbClr val="9BB2BA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68680" y="4389120"/>
            <a:ext cx="475488" cy="47548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43891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63040" y="4370832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2E3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既存のファイルは触りません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1463040" y="5001768"/>
            <a:ext cx="4251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5B74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共有フォルダにある業務ファイルの</a:t>
            </a:r>
            <a:endParaRPr lang="en-US" sz="12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5B74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読み書き・削除は行いません。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63640" y="4069080"/>
            <a:ext cx="5349240" cy="1920240"/>
          </a:xfrm>
          <a:prstGeom prst="roundRect">
            <a:avLst>
              <a:gd name="adj" fmla="val 4762"/>
            </a:avLst>
          </a:prstGeom>
          <a:solidFill>
            <a:srgbClr val="F1F7F8"/>
          </a:solidFill>
          <a:ln/>
          <a:effectLst>
            <a:outerShdw sx="100000" sy="100000" kx="0" ky="0" algn="bl" rotWithShape="0" blurRad="127000" dist="25400" dir="5400000">
              <a:srgbClr val="9BB2BA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83680" y="4389120"/>
            <a:ext cx="475488" cy="47548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1" name="Text 19"/>
          <p:cNvSpPr/>
          <p:nvPr/>
        </p:nvSpPr>
        <p:spPr>
          <a:xfrm>
            <a:off x="6583680" y="43891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178040" y="4370832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2E3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インストールしません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7178040" y="5001768"/>
            <a:ext cx="4251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5B74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端末に何かを導入したり、設定を</a:t>
            </a:r>
            <a:endParaRPr lang="en-US" sz="12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5B74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変更したりすることはありません。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3C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173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ご協力ありがとうございます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822960" y="233172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FE0E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お客様に実施いただくのは、次の3つだけです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3108960"/>
            <a:ext cx="3291840" cy="1691640"/>
          </a:xfrm>
          <a:prstGeom prst="roundRect">
            <a:avLst>
              <a:gd name="adj" fmla="val 5405"/>
            </a:avLst>
          </a:prstGeom>
          <a:solidFill>
            <a:srgbClr val="17505F"/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" y="3429000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3429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3C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43000" y="41605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フォルダを端末にコピー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434840" y="3108960"/>
            <a:ext cx="3291840" cy="1691640"/>
          </a:xfrm>
          <a:prstGeom prst="roundRect">
            <a:avLst>
              <a:gd name="adj" fmla="val 5405"/>
            </a:avLst>
          </a:prstGeom>
          <a:solidFill>
            <a:srgbClr val="17505F"/>
          </a:solidFill>
          <a:ln/>
        </p:spPr>
      </p:sp>
      <p:sp>
        <p:nvSpPr>
          <p:cNvPr id="9" name="Shape 7"/>
          <p:cNvSpPr/>
          <p:nvPr/>
        </p:nvSpPr>
        <p:spPr>
          <a:xfrm>
            <a:off x="4754880" y="3429000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0" y="3429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3C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754880" y="41605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bat をダブルクリック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046720" y="3108960"/>
            <a:ext cx="3291840" cy="1691640"/>
          </a:xfrm>
          <a:prstGeom prst="roundRect">
            <a:avLst>
              <a:gd name="adj" fmla="val 5405"/>
            </a:avLst>
          </a:prstGeom>
          <a:solidFill>
            <a:srgbClr val="17505F"/>
          </a:solidFill>
          <a:ln/>
        </p:spPr>
      </p:sp>
      <p:sp>
        <p:nvSpPr>
          <p:cNvPr id="13" name="Shape 11"/>
          <p:cNvSpPr/>
          <p:nvPr/>
        </p:nvSpPr>
        <p:spPr>
          <a:xfrm>
            <a:off x="8366760" y="3429000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4" name="Text 12"/>
          <p:cNvSpPr/>
          <p:nvPr/>
        </p:nvSpPr>
        <p:spPr>
          <a:xfrm>
            <a:off x="8366760" y="3429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3C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366760" y="41605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記録ファイルを送付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22960" y="544068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FE0E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ご不明な点は、担当者までお気軽にお問い合わせください。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ファイル転送 疎通確認手順</dc:title>
  <dc:subject>PptxGenJS Presentation</dc:subject>
  <dc:creator>Noritake Kohji</dc:creator>
  <cp:lastModifiedBy>Noritake Kohji</cp:lastModifiedBy>
  <cp:revision>1</cp:revision>
  <dcterms:created xsi:type="dcterms:W3CDTF">2026-07-26T07:19:26Z</dcterms:created>
  <dcterms:modified xsi:type="dcterms:W3CDTF">2026-07-26T07:19:26Z</dcterms:modified>
</cp:coreProperties>
</file>